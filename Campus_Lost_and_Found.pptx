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640080"/>
            <a:ext cx="1280160" cy="128016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1417320"/>
            <a:ext cx="685800" cy="685800"/>
          </a:xfrm>
          <a:prstGeom prst="ellipse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691640"/>
            <a:ext cx="384048" cy="384048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HACKATHON PROJECT • PROBLEM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80467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CAMPUS LOST &amp;
FOUND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80360"/>
            <a:ext cx="70408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0D5FF"/>
                </a:solidFill>
                <a:latin typeface="Aptos"/>
              </a:rPr>
              <a:t>One campus. One place to reconnect lost items with their owners.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6217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EBCD3"/>
                </a:solidFill>
                <a:latin typeface="Aptos"/>
              </a:rPr>
              <a:t>A simple MERN web app for reporting, discovering and returning belongings.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074920"/>
            <a:ext cx="3246120" cy="10515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239512"/>
            <a:ext cx="50292" cy="7223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239512"/>
            <a:ext cx="29260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PROJECT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641848"/>
            <a:ext cx="291693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Campus utility • Lost &amp; found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074920"/>
            <a:ext cx="3246120" cy="10515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5239512"/>
            <a:ext cx="50292" cy="722375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5239512"/>
            <a:ext cx="29260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0D5FF"/>
                </a:solidFill>
                <a:latin typeface="Aptos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641848"/>
            <a:ext cx="291693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Add your team names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5074920"/>
            <a:ext cx="3840480" cy="10515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5239512"/>
            <a:ext cx="50292" cy="722375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5239512"/>
            <a:ext cx="3520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B25C"/>
                </a:solidFill>
                <a:latin typeface="Aptos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5641848"/>
            <a:ext cx="3511296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MongoDB • Express • React • Node.js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73952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EBCD3"/>
                </a:solidFill>
                <a:latin typeface="Aptos"/>
              </a:rPr>
              <a:t>CAMPUS LOST &amp; FOUND • HACKATHON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3"/>
                </a:solidFill>
                <a:latin typeface="Aptos"/>
              </a:rPr>
              <a:t>Lost belongings create avoidable stress when there is no shared place to report or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772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20440" cy="18288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1992"/>
            <a:ext cx="50292" cy="14996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THE REAL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3191256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Students lose bottles, ID cards, books, wallets and other everyday items around campus.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18288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21992"/>
            <a:ext cx="50292" cy="149961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D5FF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24328"/>
            <a:ext cx="3191256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Finding the owner quickly saves time, reduces worry and prevents usable items from remaining unclaimed.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3520440" cy="18288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221992"/>
            <a:ext cx="50292" cy="1499616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B25C"/>
                </a:solidFill>
                <a:latin typeface="Aptos"/>
              </a:rPr>
              <a:t>CURRENT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24328"/>
            <a:ext cx="3191256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Scattered messages, word-of-mouth and incomplete details make matching items difficult.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434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Aptos"/>
              </a:rPr>
              <a:t>KEY CHALLENGES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82803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09160"/>
            <a:ext cx="510235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Reports are spread across different channels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257800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138928"/>
            <a:ext cx="510235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Descriptions may be incomplete or inconsistent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687568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568696"/>
            <a:ext cx="510235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People cannot easily see whether an item was returned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4937760" cy="164592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553712"/>
            <a:ext cx="50292" cy="1316736"/>
          </a:xfrm>
          <a:prstGeom prst="rect">
            <a:avLst/>
          </a:prstGeom>
          <a:solidFill>
            <a:srgbClr val="6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53712"/>
            <a:ext cx="4617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5DCA0"/>
                </a:solidFill>
                <a:latin typeface="Aptos"/>
              </a:rPr>
              <a:t>OUR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8"/>
            <a:ext cx="4608576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Create one searchable, organized campus hub with clear item status and useful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3"/>
                </a:solidFill>
                <a:latin typeface="Aptos"/>
              </a:rPr>
              <a:t>A single, straightforward portal for the full lost-and-found journey.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772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20440" cy="16002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1992"/>
            <a:ext cx="50292" cy="1271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3191256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Submit an item with name, category, location, date, description and image URL.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16002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21992"/>
            <a:ext cx="50292" cy="127101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D5FF"/>
                </a:solidFill>
                <a:latin typeface="Aptos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24328"/>
            <a:ext cx="3191256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Browse item cards and search or filter listings to narrow down possible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3520440" cy="160020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221992"/>
            <a:ext cx="50292" cy="1271016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B25C"/>
                </a:solidFill>
                <a:latin typeface="Aptos"/>
              </a:rPr>
              <a:t>RECONNECT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24328"/>
            <a:ext cx="3191256" cy="886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Update the item status when belongings are returned, keeping listings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Aptos"/>
              </a:rPr>
              <a:t>KEY FEATURES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4515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526280"/>
            <a:ext cx="49651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Dashboard counts: total, missing, found and returned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84064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965192"/>
            <a:ext cx="49651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Structured reports instead of vague messages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52297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404104"/>
            <a:ext cx="49651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Search/filter and clear status labels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4983480" cy="164592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416552"/>
            <a:ext cx="50292" cy="1316736"/>
          </a:xfrm>
          <a:prstGeom prst="rect">
            <a:avLst/>
          </a:prstGeom>
          <a:solidFill>
            <a:srgbClr val="6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16552"/>
            <a:ext cx="4663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5DCA0"/>
                </a:solidFill>
                <a:latin typeface="Aptos"/>
              </a:rPr>
              <a:t>WHAT MAKES IT USEFUL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18888"/>
            <a:ext cx="4654296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It combines reporting, discovery and status tracking in one campus-focused workflow—without needing a complex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3"/>
                </a:solidFill>
                <a:latin typeface="Aptos"/>
              </a:rPr>
              <a:t>From a student report to a searchable listing and a clear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772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0574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87752"/>
            <a:ext cx="50292" cy="1179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01 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17282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Student enters item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944368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423160"/>
            <a:ext cx="20574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587752"/>
            <a:ext cx="50292" cy="117957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587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0D5FF"/>
                </a:solidFill>
                <a:latin typeface="Aptos"/>
              </a:rPr>
              <a:t>02 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990088"/>
            <a:ext cx="17282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React sends data to the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944368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423160"/>
            <a:ext cx="20574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587752"/>
            <a:ext cx="50292" cy="1179576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87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B25C"/>
                </a:solidFill>
                <a:latin typeface="Aptos"/>
              </a:rPr>
              <a:t>03 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90088"/>
            <a:ext cx="17282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Express validates and MongoDB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944368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423160"/>
            <a:ext cx="20574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2587752"/>
            <a:ext cx="50292" cy="1179576"/>
          </a:xfrm>
          <a:prstGeom prst="rect">
            <a:avLst/>
          </a:prstGeom>
          <a:solidFill>
            <a:srgbClr val="6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587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DCA0"/>
                </a:solidFill>
                <a:latin typeface="Aptos"/>
              </a:rPr>
              <a:t>04 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990088"/>
            <a:ext cx="17282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Listing appears; users search/filter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Aptos"/>
              </a:rPr>
              <a:t>USER JOURNEY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" y="491947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00600"/>
            <a:ext cx="5376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Open portal and view dashboard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" y="5312664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193792"/>
            <a:ext cx="5376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Report a lost/found item or search listings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" y="570585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86984"/>
            <a:ext cx="53766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Check details and update status when returned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434840"/>
            <a:ext cx="4572000" cy="146304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4599431"/>
            <a:ext cx="50292" cy="113385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599431"/>
            <a:ext cx="4251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0D5FF"/>
                </a:solidFill>
                <a:latin typeface="Aptos"/>
              </a:rPr>
              <a:t>SIMPLE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01768"/>
            <a:ext cx="4242816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Input → API processing → Database → Searchable result → Status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3"/>
                </a:solidFill>
                <a:latin typeface="Aptos"/>
              </a:rPr>
              <a:t>MERN keeps the user interface, API and stored records connected.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772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520440" cy="141732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21992"/>
            <a:ext cx="50292" cy="10881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D4BF"/>
                </a:solidFill>
                <a:latin typeface="Aptos"/>
              </a:rP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3191256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Frontend UI, forms, dashboard and item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20440" cy="141732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21992"/>
            <a:ext cx="50292" cy="108813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0D5FF"/>
                </a:solidFill>
                <a:latin typeface="Aptos"/>
              </a:rPr>
              <a:t>NODE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24328"/>
            <a:ext cx="3191256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REST API routes and server-side request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3520440" cy="141732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221992"/>
            <a:ext cx="50292" cy="1088136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221992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B25C"/>
                </a:solidFill>
                <a:latin typeface="Aptos"/>
              </a:rP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24328"/>
            <a:ext cx="3191256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Stores item details and status for later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86200"/>
            <a:ext cx="3840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Aptos"/>
              </a:rPr>
              <a:t>MAIN LOGIC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398264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79392"/>
            <a:ext cx="5193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CRUD operations: create, read, update, delete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" y="4837176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718304"/>
            <a:ext cx="5193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Search/filter by relevant item fields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" y="5276088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157216"/>
            <a:ext cx="5193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Status updates for returned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77639"/>
            <a:ext cx="4846320" cy="169164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42231"/>
            <a:ext cx="50292" cy="1362456"/>
          </a:xfrm>
          <a:prstGeom prst="rect">
            <a:avLst/>
          </a:prstGeom>
          <a:solidFill>
            <a:srgbClr val="6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142231"/>
            <a:ext cx="4526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5DCA0"/>
                </a:solidFill>
                <a:latin typeface="Aptos"/>
              </a:rPr>
              <a:t>COMPLEXITY (TYPICAL)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44568"/>
            <a:ext cx="4517136" cy="978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A simple scan-based search is O(n) for n listings. Database lookup cost depends on indexes and query design. This is an application workflow, not a specialized AI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CD3"/>
                </a:solidFill>
                <a:latin typeface="Aptos"/>
              </a:rPr>
              <a:t>Show the actual running app in this slide during your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7772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6583680" cy="3977639"/>
          </a:xfrm>
          <a:prstGeom prst="roundRect">
            <a:avLst/>
          </a:prstGeom>
          <a:solidFill>
            <a:srgbClr val="F8FAFF"/>
          </a:solidFill>
          <a:ln>
            <a:solidFill>
              <a:srgbClr val="46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C142B"/>
                </a:solidFill>
                <a:latin typeface="Aptos"/>
              </a:rPr>
              <a:t>CAMPUS LOST &amp; FOUND  / 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353312" cy="822960"/>
          </a:xfrm>
          <a:prstGeom prst="roundRect">
            <a:avLst/>
          </a:prstGeom>
          <a:solidFill>
            <a:srgbClr val="E7EEF9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C142B"/>
                </a:solidFill>
                <a:latin typeface="Aptos"/>
              </a:rPr>
              <a:t>TOTAL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54096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697480"/>
            <a:ext cx="1353312" cy="822960"/>
          </a:xfrm>
          <a:prstGeom prst="roundRect">
            <a:avLst/>
          </a:prstGeom>
          <a:solidFill>
            <a:srgbClr val="E7EEF9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816352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C142B"/>
                </a:solidFill>
                <a:latin typeface="Aptos"/>
              </a:rPr>
              <a:t>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3054096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B25C"/>
                </a:solidFill>
                <a:latin typeface="Aptos"/>
              </a:rP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697480"/>
            <a:ext cx="1353312" cy="822960"/>
          </a:xfrm>
          <a:prstGeom prst="roundRect">
            <a:avLst/>
          </a:prstGeom>
          <a:solidFill>
            <a:srgbClr val="E7EEF9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2816352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C142B"/>
                </a:solidFill>
                <a:latin typeface="Aptos"/>
              </a:rPr>
              <a:t>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3054096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60D5FF"/>
                </a:solidFill>
                <a:latin typeface="Aptos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79" y="2697480"/>
            <a:ext cx="1353312" cy="822960"/>
          </a:xfrm>
          <a:prstGeom prst="roundRect">
            <a:avLst/>
          </a:prstGeom>
          <a:solidFill>
            <a:srgbClr val="E7EEF9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1" y="2816352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C142B"/>
                </a:solidFill>
                <a:latin typeface="Aptos"/>
              </a:rPr>
              <a:t>RETURNED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1" y="3054096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65DCA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9476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C142B"/>
                </a:solidFill>
                <a:latin typeface="Aptos"/>
              </a:rPr>
              <a:t>RECENT LISTINGS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60520"/>
            <a:ext cx="5989320" cy="384048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15383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42B"/>
                </a:solidFill>
                <a:latin typeface="Aptos"/>
              </a:rPr>
              <a:t>Blue water bottle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215383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6556E"/>
                </a:solidFill>
                <a:latin typeface="Aptos"/>
              </a:rPr>
              <a:t>Library •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215383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96E5F"/>
                </a:solidFill>
                <a:latin typeface="Aptos"/>
              </a:rPr>
              <a:t>FOUND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36008"/>
            <a:ext cx="5989320" cy="384048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908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42B"/>
                </a:solidFill>
                <a:latin typeface="Aptos"/>
              </a:rPr>
              <a:t>Student ID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69087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6556E"/>
                </a:solidFill>
                <a:latin typeface="Aptos"/>
              </a:rPr>
              <a:t>Block B • Yesterday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690872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96E5F"/>
                </a:solidFill>
                <a:latin typeface="Aptos"/>
              </a:rPr>
              <a:t>MISSING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111496"/>
            <a:ext cx="5989320" cy="384048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66359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C142B"/>
                </a:solidFill>
                <a:latin typeface="Aptos"/>
              </a:rPr>
              <a:t>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166359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6556E"/>
                </a:solidFill>
                <a:latin typeface="Aptos"/>
              </a:rPr>
              <a:t>Lab corridor •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166359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96E5F"/>
                </a:solidFill>
                <a:latin typeface="Aptos"/>
              </a:rPr>
              <a:t>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19456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Aptos"/>
              </a:rPr>
              <a:t>DEMO CHECKLIST</a:t>
            </a:r>
          </a:p>
        </p:txBody>
      </p:sp>
      <p:sp>
        <p:nvSpPr>
          <p:cNvPr id="34" name="Oval 33"/>
          <p:cNvSpPr/>
          <p:nvPr/>
        </p:nvSpPr>
        <p:spPr>
          <a:xfrm>
            <a:off x="7662672" y="277063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651760"/>
            <a:ext cx="35935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Create a lost/found report</a:t>
            </a:r>
          </a:p>
        </p:txBody>
      </p:sp>
      <p:sp>
        <p:nvSpPr>
          <p:cNvPr id="36" name="Oval 35"/>
          <p:cNvSpPr/>
          <p:nvPr/>
        </p:nvSpPr>
        <p:spPr>
          <a:xfrm>
            <a:off x="7662672" y="327355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154680"/>
            <a:ext cx="35935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Search or filter an item</a:t>
            </a:r>
          </a:p>
        </p:txBody>
      </p:sp>
      <p:sp>
        <p:nvSpPr>
          <p:cNvPr id="38" name="Oval 37"/>
          <p:cNvSpPr/>
          <p:nvPr/>
        </p:nvSpPr>
        <p:spPr>
          <a:xfrm>
            <a:off x="7662672" y="377647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3657600"/>
            <a:ext cx="35935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Confirm record is saved</a:t>
            </a:r>
          </a:p>
        </p:txBody>
      </p:sp>
      <p:sp>
        <p:nvSpPr>
          <p:cNvPr id="40" name="Oval 39"/>
          <p:cNvSpPr/>
          <p:nvPr/>
        </p:nvSpPr>
        <p:spPr>
          <a:xfrm>
            <a:off x="7662672" y="4279392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4160520"/>
            <a:ext cx="35935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Update status to returned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892040"/>
            <a:ext cx="3794760" cy="100584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43800" y="5056631"/>
            <a:ext cx="50292" cy="676656"/>
          </a:xfrm>
          <a:prstGeom prst="rect">
            <a:avLst/>
          </a:prstGeom>
          <a:solidFill>
            <a:srgbClr val="6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5056631"/>
            <a:ext cx="3474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5DCA0"/>
                </a:solidFill>
                <a:latin typeface="Aptos"/>
              </a:rPr>
              <a:t>PRACTICAL 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5458968"/>
            <a:ext cx="34655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5F8FF"/>
                </a:solidFill>
                <a:latin typeface="Aptos"/>
              </a:rPr>
              <a:t>Faster discovery • Less confusion • Better item recovery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199632"/>
            <a:ext cx="6492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EBCD3"/>
                </a:solidFill>
                <a:latin typeface="Aptos"/>
              </a:rPr>
              <a:t>Demo values shown are illustrative placeholders—replace with actual app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KAI HACKATHON •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6858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D5FF"/>
                </a:solidFill>
                <a:latin typeface="Aptos"/>
              </a:rPr>
              <a:t>Make campus lost-and-found more connected, searchable and reliable.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290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24912"/>
            <a:ext cx="50292" cy="1179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D4BF"/>
                </a:solidFill>
                <a:latin typeface="Aptos"/>
              </a:rPr>
              <a:t>CURRENT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30998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MERN-based portal concept with reporting, browsing, search/filter and item-status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4290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724912"/>
            <a:ext cx="50292" cy="1179576"/>
          </a:xfrm>
          <a:prstGeom prst="rect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2491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0D5FF"/>
                </a:solidFill>
                <a:latin typeface="Aptos"/>
              </a:rPr>
              <a:t>NEXT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27248"/>
            <a:ext cx="30998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Student login, image uploads, notifications, admin moderation and stronger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429000" cy="1508760"/>
          </a:xfrm>
          <a:prstGeom prst="roundRect">
            <a:avLst/>
          </a:prstGeom>
          <a:solidFill>
            <a:srgbClr val="162240"/>
          </a:solidFill>
          <a:ln>
            <a:solidFill>
              <a:srgbClr val="2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724912"/>
            <a:ext cx="50292" cy="1179576"/>
          </a:xfrm>
          <a:prstGeom prst="rect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724912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25C"/>
                </a:solidFill>
                <a:latin typeface="Aptos"/>
              </a:rP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27248"/>
            <a:ext cx="3099816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5F8FF"/>
                </a:solidFill>
                <a:latin typeface="Aptos"/>
              </a:rPr>
              <a:t>Deploy the app, add indexes and access controls, and adapt the portal for multiple campuses.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5943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5F8FF"/>
                </a:solidFill>
                <a:latin typeface="Aptos"/>
              </a:rPr>
              <a:t>Every lost item deserves a better chance of coming home.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4114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DD4BF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7150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AEBCD3"/>
                </a:solidFill>
                <a:latin typeface="Aptos"/>
              </a:rPr>
              <a:t>Questions &amp; Answers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0" y="4663440"/>
            <a:ext cx="777240" cy="7772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5212080"/>
            <a:ext cx="502920" cy="502920"/>
          </a:xfrm>
          <a:prstGeom prst="ellipse">
            <a:avLst/>
          </a:prstGeom>
          <a:solidFill>
            <a:srgbClr val="6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32520" y="5532120"/>
            <a:ext cx="274320" cy="274320"/>
          </a:xfrm>
          <a:prstGeom prst="ellipse">
            <a:avLst/>
          </a:prstGeom>
          <a:solidFill>
            <a:srgbClr val="FFB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